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Consistent Player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AB de Villiers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Sheet1!$B$1:$H$1</c:f>
              <c:strCache>
                <c:ptCount val="7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Total Runs</c:v>
                </c:pt>
                <c:pt idx="5">
                  <c:v>Average</c:v>
                </c:pt>
                <c:pt idx="6">
                  <c:v>Performance Trend</c:v>
                </c:pt>
              </c:strCache>
            </c:strRef>
          </c:cat>
          <c:val>
            <c:numRef>
              <c:f>Sheet1!$B$2:$H$2</c:f>
              <c:numCache>
                <c:formatCode>General</c:formatCode>
                <c:ptCount val="7"/>
                <c:pt idx="0">
                  <c:v>373</c:v>
                </c:pt>
                <c:pt idx="1">
                  <c:v>395</c:v>
                </c:pt>
                <c:pt idx="2">
                  <c:v>513</c:v>
                </c:pt>
                <c:pt idx="3">
                  <c:v>687</c:v>
                </c:pt>
                <c:pt idx="4">
                  <c:v>1968</c:v>
                </c:pt>
                <c:pt idx="5">
                  <c:v>492</c:v>
                </c:pt>
                <c:pt idx="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D8-4680-898E-322808E6B6D7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DA Warner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Sheet1!$B$1:$H$1</c:f>
              <c:strCache>
                <c:ptCount val="7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Total Runs</c:v>
                </c:pt>
                <c:pt idx="5">
                  <c:v>Average</c:v>
                </c:pt>
                <c:pt idx="6">
                  <c:v>Performance Trend</c:v>
                </c:pt>
              </c:strCache>
            </c:strRef>
          </c:cat>
          <c:val>
            <c:numRef>
              <c:f>Sheet1!$B$3:$H$3</c:f>
              <c:numCache>
                <c:formatCode>General</c:formatCode>
                <c:ptCount val="7"/>
                <c:pt idx="0">
                  <c:v>410</c:v>
                </c:pt>
                <c:pt idx="1">
                  <c:v>528</c:v>
                </c:pt>
                <c:pt idx="2">
                  <c:v>562</c:v>
                </c:pt>
                <c:pt idx="3">
                  <c:v>848</c:v>
                </c:pt>
                <c:pt idx="4">
                  <c:v>2348</c:v>
                </c:pt>
                <c:pt idx="5">
                  <c:v>587</c:v>
                </c:pt>
                <c:pt idx="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D8-4680-898E-322808E6B6D7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RG Sharma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Sheet1!$B$1:$H$1</c:f>
              <c:strCache>
                <c:ptCount val="7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Total Runs</c:v>
                </c:pt>
                <c:pt idx="5">
                  <c:v>Average</c:v>
                </c:pt>
                <c:pt idx="6">
                  <c:v>Performance Trend</c:v>
                </c:pt>
              </c:strCache>
            </c:strRef>
          </c:cat>
          <c:val>
            <c:numRef>
              <c:f>Sheet1!$B$4:$H$4</c:f>
              <c:numCache>
                <c:formatCode>General</c:formatCode>
                <c:ptCount val="7"/>
                <c:pt idx="0">
                  <c:v>538</c:v>
                </c:pt>
                <c:pt idx="1">
                  <c:v>390</c:v>
                </c:pt>
                <c:pt idx="2">
                  <c:v>482</c:v>
                </c:pt>
                <c:pt idx="3">
                  <c:v>489</c:v>
                </c:pt>
                <c:pt idx="4">
                  <c:v>1899</c:v>
                </c:pt>
                <c:pt idx="5">
                  <c:v>474.8</c:v>
                </c:pt>
                <c:pt idx="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D8-4680-898E-322808E6B6D7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SK Raina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Sheet1!$B$1:$H$1</c:f>
              <c:strCache>
                <c:ptCount val="7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Total Runs</c:v>
                </c:pt>
                <c:pt idx="5">
                  <c:v>Average</c:v>
                </c:pt>
                <c:pt idx="6">
                  <c:v>Performance Trend</c:v>
                </c:pt>
              </c:strCache>
            </c:strRef>
          </c:cat>
          <c:val>
            <c:numRef>
              <c:f>Sheet1!$B$5:$H$5</c:f>
              <c:numCache>
                <c:formatCode>General</c:formatCode>
                <c:ptCount val="7"/>
                <c:pt idx="0">
                  <c:v>548</c:v>
                </c:pt>
                <c:pt idx="1">
                  <c:v>523</c:v>
                </c:pt>
                <c:pt idx="2">
                  <c:v>374</c:v>
                </c:pt>
                <c:pt idx="3">
                  <c:v>399</c:v>
                </c:pt>
                <c:pt idx="4">
                  <c:v>1844</c:v>
                </c:pt>
                <c:pt idx="5">
                  <c:v>461</c:v>
                </c:pt>
                <c:pt idx="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CD8-4680-898E-322808E6B6D7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V Kohli</c:v>
                </c:pt>
              </c:strCache>
            </c:strRef>
          </c:tx>
          <c:spPr>
            <a:ln w="22225" cap="rnd" cmpd="sng" algn="ctr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Sheet1!$B$1:$H$1</c:f>
              <c:strCache>
                <c:ptCount val="7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Total Runs</c:v>
                </c:pt>
                <c:pt idx="5">
                  <c:v>Average</c:v>
                </c:pt>
                <c:pt idx="6">
                  <c:v>Performance Trend</c:v>
                </c:pt>
              </c:strCache>
            </c:strRef>
          </c:cat>
          <c:val>
            <c:numRef>
              <c:f>Sheet1!$B$6:$H$6</c:f>
              <c:numCache>
                <c:formatCode>General</c:formatCode>
                <c:ptCount val="7"/>
                <c:pt idx="0">
                  <c:v>639</c:v>
                </c:pt>
                <c:pt idx="1">
                  <c:v>359</c:v>
                </c:pt>
                <c:pt idx="2">
                  <c:v>505</c:v>
                </c:pt>
                <c:pt idx="3">
                  <c:v>969</c:v>
                </c:pt>
                <c:pt idx="4">
                  <c:v>2472</c:v>
                </c:pt>
                <c:pt idx="5">
                  <c:v>618</c:v>
                </c:pt>
                <c:pt idx="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CD8-4680-898E-322808E6B6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826634415"/>
        <c:axId val="1826632015"/>
      </c:lineChart>
      <c:catAx>
        <c:axId val="1826634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6632015"/>
        <c:crosses val="autoZero"/>
        <c:auto val="1"/>
        <c:lblAlgn val="ctr"/>
        <c:lblOffset val="100"/>
        <c:noMultiLvlLbl val="0"/>
      </c:catAx>
      <c:valAx>
        <c:axId val="1826632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6634415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6C574-5322-5AC2-0ED6-F98FEA9C5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9B08D-22E4-FAC0-45FA-D4699D7CB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45CE0-4419-6FDE-5D1A-9D3738EC1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DFBF0-B863-46D8-9A7F-23484DFC837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5BF2D-71AA-B67F-FBC2-528426787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21932-B74A-4049-4DE9-0C2E31AC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4CA9-4856-4D02-B315-C6A983FBE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08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5A7FA-97B9-1115-531D-EBF040D4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35F4E-CA6C-2FC2-6A2F-FCF7CD439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C6A38-1845-9871-A353-DF3E3B86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DFBF0-B863-46D8-9A7F-23484DFC837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B9615-FF6C-8213-72FC-3588B294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1EFD2-D5F7-6E9A-AC34-977ED2DB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4CA9-4856-4D02-B315-C6A983FBE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25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A04F-52CF-B7BD-5F6B-4D3E8B505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6074F-BFF7-E6C7-BE49-2DFCFFCA2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7C682-27AD-533A-3B6C-04822551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DFBF0-B863-46D8-9A7F-23484DFC837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7E0EE-8180-24BA-84E7-079310EC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34CB8-29A5-5780-CA2B-C9E3BB72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4CA9-4856-4D02-B315-C6A983FBE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11C43-8998-9158-1D7E-EBCB7EE0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F7526-C9EB-1C19-8459-98C9C815E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44EC1-B2A4-A5E0-50D8-31904D83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AFD5B-F27A-6D9A-09CD-9267A6DEA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DFBF0-B863-46D8-9A7F-23484DFC837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2AE22-7FEE-781C-E290-AD08B80A9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B6180-7718-06EE-6A96-B2D70230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4CA9-4856-4D02-B315-C6A983FBE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6D5E-071B-E01E-757F-D1F79B88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47D5D-3751-A35C-92F5-F5EC4D238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224FF-D932-4B49-E2AE-5E461B579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D84E7-5568-4246-8832-EE9DBCBA5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DC070-F64F-54E5-3D90-069A1B64E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F527B-A0FF-3AC0-1790-E657E3905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DFBF0-B863-46D8-9A7F-23484DFC837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53E6D6-7BB1-686A-FCAB-4FAD727A7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281A2-07BE-579B-9757-CE6A304B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4CA9-4856-4D02-B315-C6A983FBE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0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32AF-304D-AF07-2B1E-35C76BDE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5F924F-8C5F-85A2-67A1-327A43654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DFBF0-B863-46D8-9A7F-23484DFC837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1D08D-A368-0BD1-C2E2-018BE2E66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31E3D-27B0-22DC-E63F-71F2135D4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4CA9-4856-4D02-B315-C6A983FBE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17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19047-BAAA-000E-B286-4636D3C6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DFBF0-B863-46D8-9A7F-23484DFC837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51D67-DBC4-06C9-B567-124C32521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9330D-2B3B-F0B4-2E38-3563EC1E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4CA9-4856-4D02-B315-C6A983FBE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71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7D525-518B-895A-F6E0-A81AF37C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8FF0A-ABB0-3C02-9F8A-1E39A5D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55F56-A13E-B6D1-56BF-16F2838AD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5F7DE-E3E1-F78D-2CE4-044B23F97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DFBF0-B863-46D8-9A7F-23484DFC837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D7B26-795E-27BE-96F7-3BF0181AE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8532D-0D2B-79CE-5B03-88722E0C8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4CA9-4856-4D02-B315-C6A983FBE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35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59C3-66B5-8C6B-6182-498344F21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7D1D49-40E9-3BC2-476D-7A22411F95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7B7FC-56C2-B5A3-85C0-4F3EA78CA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6C970-40DB-22AF-B2A0-74725FF7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DFBF0-B863-46D8-9A7F-23484DFC837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6301D-DA96-A763-4A11-C12CBC89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E1384-E38E-0DD4-A624-3E6492763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4CA9-4856-4D02-B315-C6A983FBE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0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C230-4E42-A1A2-E1F0-5815BDF7F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36833-D655-B6A6-F3B7-CEAB82533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65DCA-B724-AB77-93E9-95AC48A5F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DFBF0-B863-46D8-9A7F-23484DFC837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AE081-274F-7F15-0403-79BF162B6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5F05A-D8BA-0BAC-7A8D-95A7B243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4CA9-4856-4D02-B315-C6A983FBE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1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DC233-06CC-59DB-0152-49F1C1976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4A096-525A-FEE0-03E9-4BE9089C0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0542E-3FE1-8F41-D0E2-7DE4CA93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DFBF0-B863-46D8-9A7F-23484DFC837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27B3D-30DE-83C7-B9EB-BC91099D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EC4E2-E16A-2211-BF7C-64EA339B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24CA9-4856-4D02-B315-C6A983FBE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1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A7F3A-8113-3690-50E9-D25349439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4C5A6-0FED-3FC7-394A-4485FEDDA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1C8B2-9238-5AA7-3ADB-01C38D109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DFBF0-B863-46D8-9A7F-23484DFC837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6BFA0-44AA-652E-FD1E-9F96D20EF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20981-0673-A54D-76A2-5FCA7F129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24CA9-4856-4D02-B315-C6A983FBE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6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9FE4-BC04-C262-06D1-7A5CCB49C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5" y="1122362"/>
            <a:ext cx="10267950" cy="230663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IPL Data Analysis &amp; Strategic Insights for RCB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Analysis, Team Strategy &amp; Auction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324C1F-1963-3B0A-56C5-587F8298F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2551" y="3602038"/>
            <a:ext cx="9744074" cy="19986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Nishanth Srinivas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 MySQL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WorkBench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Excel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Analyze IPL data to identify performance trends and inform auction strategy decisions.</a:t>
            </a:r>
          </a:p>
        </p:txBody>
      </p:sp>
    </p:spTree>
    <p:extLst>
      <p:ext uri="{BB962C8B-B14F-4D97-AF65-F5344CB8AC3E}">
        <p14:creationId xmlns:p14="http://schemas.microsoft.com/office/powerpoint/2010/main" val="1267393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D8DC-6B6A-7DEC-1CC5-7644306D1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4" y="847725"/>
            <a:ext cx="10391775" cy="8429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 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635319F-0DEE-5ECE-6909-B1C602B0C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was conducted to examine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IPL data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the key factors that influence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success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 performance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As a Sports Data Analyst for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RCB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objective is to evaluate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batting, bowling, venue, and match-winning patterns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RCB’s strengths and weaknesses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compare its performance with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IPL teams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identify players who can contribute consistently. The insights from this study will support data-driven decision-making for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strategy, future auctions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the selection of an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playing XI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capable of improving RCB’s chances of winning an IPL title.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924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0558-D567-14E0-7FD2-C20E6B8BE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5069"/>
            <a:ext cx="10515600" cy="785619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Architecture &amp; Data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DCFD45-F9E7-717D-F365-E48FE53A5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1219200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5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44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60C40-1F54-8783-7B68-6300C6469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2008"/>
            <a:ext cx="10515600" cy="823913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 Participation Analysis (Season 2014)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73460-1650-A355-D277-A887D2B95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5290"/>
            <a:ext cx="10515600" cy="287382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of IPL 2014 shows that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89 players were above the age of 25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most teams preferred experienced players. These players provided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stability, handled pressure better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contributed consistently in important matches. At the same time, successful teams maintained a good balance between experienced players and young talent. This suggests that combining experience with emerging players is an effective strategy for building a strong and competitive IPL team.</a:t>
            </a:r>
          </a:p>
        </p:txBody>
      </p:sp>
    </p:spTree>
    <p:extLst>
      <p:ext uri="{BB962C8B-B14F-4D97-AF65-F5344CB8AC3E}">
        <p14:creationId xmlns:p14="http://schemas.microsoft.com/office/powerpoint/2010/main" val="2939204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D4DC-51F0-50EA-6B3B-ED4B1A7CC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 Player Performance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4C953D7-290F-EC27-1A1B-1FAA82FF7D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0849" y="2336384"/>
            <a:ext cx="521017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Virat Kohli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consistent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run scorer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reaching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nearly 1,000 runs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2016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David Warner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steady improvement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across multiple seasons.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 de Villiers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his run tally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year after year.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Suresh Raina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Rohit Sharma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stable performances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the seasons.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Consistently performing players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contribute more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long-term team success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than players who perform well only occasionally. 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FD5519D-698C-98A9-9F85-8E982AA6F7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5115646"/>
              </p:ext>
            </p:extLst>
          </p:nvPr>
        </p:nvGraphicFramePr>
        <p:xfrm>
          <a:off x="180976" y="2230756"/>
          <a:ext cx="6410324" cy="3493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8422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04BE0-1B4D-C137-702F-B38202832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1" y="1087427"/>
            <a:ext cx="11468099" cy="1036859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Scoring Venues of Leading IPL Batsmen (2013–2016)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638227-E471-BEDA-8739-974BA154E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775" y="2124287"/>
            <a:ext cx="5629275" cy="3646285"/>
          </a:xfr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829050A9-03A0-2B7B-BC9B-D5FCA90D879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19772" y="2239269"/>
            <a:ext cx="637222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Virat Kohli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scored his highest runs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(~1,200)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Chinnaswamy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Stadium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 de Villiers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scored around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960 runs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Chinnaswamy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Stadium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170 runs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Wankhede Stadium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David Warner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recorded his highest score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~720 runs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Rajiv Gandhi International Stadium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Rohit Sharma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scored around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830 runs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Wankhede Stadium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270 runs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Eden Gardens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Suresh Raina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performed best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M. A. Chidambaram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Chepauk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Stadium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~400 runs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Venue conditions and home advantage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influence batting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505691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C169-5ED4-DC03-18BB-075375F0C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75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Toss Decision on Match Outcomes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520C80-9B8C-3164-1DDD-E7A61CB7C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250" y="2038350"/>
            <a:ext cx="5029400" cy="394335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55A6BB-E24A-5EE8-9BA5-95258E17821E}"/>
              </a:ext>
            </a:extLst>
          </p:cNvPr>
          <p:cNvSpPr txBox="1"/>
          <p:nvPr/>
        </p:nvSpPr>
        <p:spPr>
          <a:xfrm>
            <a:off x="5296100" y="1810464"/>
            <a:ext cx="68958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Teams batting first won 54.84%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matches, compared to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43.00%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teams fielding first.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Batting first offered an 11.84% higher win rate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moderate advantage.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Toss impact varied by venue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Sheikh Zayed Stadium (71.43%)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showing the highest influence and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Punjab Cricket Association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Bindra Stadium (28.57%)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lowest.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toss decision based on venue and pitch conditions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as the primary winning strategy.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RCB should build a balanced team</a:t>
            </a: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capable of performing well regardless of the toss outcome.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toss provides a slight advantage, but team performance and adaptability remain the key factors in winning matches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338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2CC1-9416-CF8A-9DBD-4A80B4CC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4" y="1085850"/>
            <a:ext cx="10944226" cy="739775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All-Rounders – Batting &amp; Bowling Contributions</a:t>
            </a:r>
            <a:b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5DFC2C-E606-B220-F2E7-28744789F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0507" y="1963548"/>
            <a:ext cx="5701180" cy="343887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3E8FC0-FF9D-E121-DD5D-F0A1A130764C}"/>
              </a:ext>
            </a:extLst>
          </p:cNvPr>
          <p:cNvSpPr txBox="1"/>
          <p:nvPr/>
        </p:nvSpPr>
        <p:spPr>
          <a:xfrm>
            <a:off x="5881688" y="1483890"/>
            <a:ext cx="612980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Shane Watson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1,315 runs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took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 wickets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him the top all-rounder.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Dwayne Smith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scored the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runs (1,707)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also claimed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wickets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Kieron Pollard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contributed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1,320 runs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 wickets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Yuvraj Singh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 Duminy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scored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1,000+ runs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 wickets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players provided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contributions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bat and ball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improving team balance.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 quality all-rounders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strengthen both batting and bowling.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balanced squad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offers greater flexibility and match-winning options.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All-rounders play a crucial role in building a balanced and competitive IPL team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588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8214-4055-A0BA-EAF2-9097C290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984" y="770362"/>
            <a:ext cx="9953625" cy="80645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Match-Winning Players (Man of the Match Analysis)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78CBE3-F58A-7E6F-A0CB-F7CF728BE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690" y="1576812"/>
            <a:ext cx="6118160" cy="456325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05DAEF-5F1F-FCEC-D4CC-5B8496AE53DD}"/>
              </a:ext>
            </a:extLst>
          </p:cNvPr>
          <p:cNvSpPr txBox="1"/>
          <p:nvPr/>
        </p:nvSpPr>
        <p:spPr>
          <a:xfrm>
            <a:off x="6307495" y="1428043"/>
            <a:ext cx="560769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David Warner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 with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Man of the Match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awards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2,348 runs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him the most impactful player.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Ajinkya Rahane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earned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awards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Virat Kohli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 de Villiers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awards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Rohit Sharma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awards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Suresh Raina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Dwayne Smith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awards each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Players with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7–11 Man of the Match awards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consistently influenced match outcomes and contributed significantly to their teams' success.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 proven match-winners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player retention and auctions.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the team around players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consistently perform in high-pressure situations.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 match-winning players are valuable assets and form the foundation of a championship-winning IPL team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342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C418-9634-05DC-83A5-D904AE06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080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vs Away Performance Analysis (RCB)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1BCA0F-ADD1-CDCD-CE5A-2C3CF8B56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7933" y="2033588"/>
            <a:ext cx="6113342" cy="421318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2EDCFC-683C-9E47-DFD5-BEE526F1B687}"/>
              </a:ext>
            </a:extLst>
          </p:cNvPr>
          <p:cNvSpPr txBox="1"/>
          <p:nvPr/>
        </p:nvSpPr>
        <p:spPr>
          <a:xfrm>
            <a:off x="6496050" y="1758991"/>
            <a:ext cx="5791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RCB won 55.17%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matches at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 wins in 29 matches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Away win percentage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dropped to 45.45%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wins in 33 matches</a:t>
            </a:r>
            <a:r>
              <a:rPr lang="en-US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advantage improved RCB's performance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9.72% compared to away matches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Away performances were less consistent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affecting overall tournament success.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strategies for different pitch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conditions.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 adaptable players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who can perform consistently in away matches.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advantage boosts RCB's performance, but improving away results is essential for winning the IPL.</a:t>
            </a:r>
            <a:endParaRPr lang="en-US" dirty="0">
              <a:solidFill>
                <a:srgbClr val="FF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366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1C5C-651E-DE71-27F3-842B58C9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0" y="695325"/>
            <a:ext cx="10096500" cy="90963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for RCB Before the Mega Auction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7EBDF1-4B8D-C542-B121-4DBE5781F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918" y="1528763"/>
            <a:ext cx="5724857" cy="463391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281A63-EB42-D985-58DC-8391ACD4DE0C}"/>
              </a:ext>
            </a:extLst>
          </p:cNvPr>
          <p:cNvSpPr txBox="1"/>
          <p:nvPr/>
        </p:nvSpPr>
        <p:spPr>
          <a:xfrm>
            <a:off x="5934407" y="1352550"/>
            <a:ext cx="616267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</a:rPr>
              <a:t>Top-ranked players</a:t>
            </a:r>
            <a:r>
              <a:rPr lang="en-US" dirty="0">
                <a:solidFill>
                  <a:srgbClr val="FF990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combined </a:t>
            </a:r>
            <a:r>
              <a:rPr lang="en-US" b="1" dirty="0">
                <a:solidFill>
                  <a:srgbClr val="FF9900"/>
                </a:solidFill>
              </a:rPr>
              <a:t>high run-scoring ability with wicket-taking contributions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</a:rPr>
              <a:t>All-rounders received higher Player Scores</a:t>
            </a:r>
            <a:r>
              <a:rPr lang="en-US" dirty="0">
                <a:solidFill>
                  <a:schemeClr val="bg1"/>
                </a:solidFill>
              </a:rPr>
              <a:t>, reflecting their value in multiple departments.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Players with </a:t>
            </a:r>
            <a:r>
              <a:rPr lang="en-US" b="1" dirty="0">
                <a:solidFill>
                  <a:srgbClr val="FF9900"/>
                </a:solidFill>
              </a:rPr>
              <a:t>consistent batting and bowling performances</a:t>
            </a:r>
            <a:r>
              <a:rPr lang="en-US" dirty="0">
                <a:solidFill>
                  <a:schemeClr val="bg1"/>
                </a:solidFill>
              </a:rPr>
              <a:t> ranked highest.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balanced mix of </a:t>
            </a:r>
            <a:r>
              <a:rPr lang="en-US" b="1" dirty="0">
                <a:solidFill>
                  <a:srgbClr val="FF9900"/>
                </a:solidFill>
              </a:rPr>
              <a:t>top-order batsmen, quality bowlers, and all-rounders</a:t>
            </a:r>
            <a:r>
              <a:rPr lang="en-US" dirty="0">
                <a:solidFill>
                  <a:schemeClr val="bg1"/>
                </a:solidFill>
              </a:rPr>
              <a:t> is essential for long-term success. </a:t>
            </a:r>
          </a:p>
          <a:p>
            <a:r>
              <a:rPr lang="en-US" b="1" dirty="0">
                <a:solidFill>
                  <a:schemeClr val="bg1"/>
                </a:solidFill>
              </a:rPr>
              <a:t>Strategic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</a:rPr>
              <a:t>Retain consistent performers and proven match-winners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Invest in quality all-rounders and reliable bowlers</a:t>
            </a:r>
            <a:r>
              <a:rPr lang="en-US" dirty="0">
                <a:solidFill>
                  <a:schemeClr val="bg1"/>
                </a:solidFill>
              </a:rPr>
              <a:t> to build a balanced squad. </a:t>
            </a:r>
          </a:p>
          <a:p>
            <a:r>
              <a:rPr lang="en-US" b="1" dirty="0">
                <a:solidFill>
                  <a:schemeClr val="bg1"/>
                </a:solidFill>
              </a:rPr>
              <a:t>Key Takeaway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9900"/>
                </a:solidFill>
              </a:rPr>
              <a:t>A balanced squad built around consistent performers and impactful all-rounders gives RCB the best chance of winning future IPL titles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37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BEA5-0782-E9A0-7B33-0904362C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64135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Recommendations for RCB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F8912-DD15-E062-BD7E-22D73114D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4" y="2141537"/>
            <a:ext cx="11172825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Retain consistent performers</a:t>
            </a: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lang="en-US" sz="3400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Virat Kohli</a:t>
            </a:r>
            <a:r>
              <a:rPr lang="en-US" sz="3400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400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 de Villiers</a:t>
            </a: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who have delivered reliable performances across seasons.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quality all-rounders</a:t>
            </a:r>
            <a:r>
              <a:rPr lang="en-US" sz="3400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lang="en-US" sz="3400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Shane Watson</a:t>
            </a:r>
            <a:r>
              <a:rPr lang="en-US" sz="3400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400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Kieron Pollard</a:t>
            </a:r>
            <a:r>
              <a:rPr lang="en-US" sz="3400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strengthen both batting and bowling.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players based on venue performance</a:t>
            </a: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maximize success in different playing conditions.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away-match performance</a:t>
            </a: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RCB's win rate </a:t>
            </a:r>
            <a:r>
              <a:rPr lang="en-US" sz="3400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400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45.45%</a:t>
            </a:r>
            <a:r>
              <a:rPr lang="en-US" sz="3400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lower than at home </a:t>
            </a:r>
            <a:r>
              <a:rPr lang="en-US" sz="3400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400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55.17%</a:t>
            </a:r>
            <a:r>
              <a:rPr lang="en-US" sz="3400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balanced squad</a:t>
            </a:r>
            <a:r>
              <a:rPr lang="en-US" sz="3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experienced players, match winners, and adaptable performers. </a:t>
            </a:r>
          </a:p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Takeaway</a:t>
            </a:r>
          </a:p>
          <a:p>
            <a:r>
              <a:rPr lang="en-US" sz="3400" b="1" dirty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approach to player selection, retention, and match strategy will help RCB build a balanced squad capable of consistently competing for the IPL title.</a:t>
            </a:r>
            <a:endParaRPr lang="en-US" sz="3400" dirty="0">
              <a:solidFill>
                <a:srgbClr val="FF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800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45E2D-1B77-D149-B866-6B73E058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247651"/>
            <a:ext cx="8839200" cy="9906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Recommended RCB Playing XI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2B5D537-E051-3715-0BEB-BAF5DD7F2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276"/>
            <a:ext cx="12192000" cy="5419724"/>
          </a:xfrm>
        </p:spPr>
      </p:pic>
    </p:spTree>
    <p:extLst>
      <p:ext uri="{BB962C8B-B14F-4D97-AF65-F5344CB8AC3E}">
        <p14:creationId xmlns:p14="http://schemas.microsoft.com/office/powerpoint/2010/main" val="3762721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1132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IPL Data Analysis &amp; Strategic Insights for RCB Performance Analysis, Team Strategy &amp; Auction Recommendations</vt:lpstr>
      <vt:lpstr>Business Objective :</vt:lpstr>
      <vt:lpstr>Database Architecture &amp; Data Model</vt:lpstr>
      <vt:lpstr>PowerPoint Presentation</vt:lpstr>
      <vt:lpstr>Player Participation Analysis (Season 2014)</vt:lpstr>
      <vt:lpstr>Consistent Player Performance</vt:lpstr>
      <vt:lpstr>Top Scoring Venues of Leading IPL Batsmen (2013–2016)</vt:lpstr>
      <vt:lpstr>Impact of Toss Decision on Match Outcomes</vt:lpstr>
      <vt:lpstr>Top All-Rounders – Batting &amp; Bowling Contributions </vt:lpstr>
      <vt:lpstr>Match-Winning Players (Man of the Match Analysis)</vt:lpstr>
      <vt:lpstr>Home vs Away Performance Analysis (RCB)</vt:lpstr>
      <vt:lpstr>Recommendations for RCB Before the Mega Auction</vt:lpstr>
      <vt:lpstr>Final Recommendations for RCB</vt:lpstr>
      <vt:lpstr>Recommended RCB Playing XI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srinivas</dc:creator>
  <cp:lastModifiedBy>Nishanth srinivas</cp:lastModifiedBy>
  <cp:revision>2</cp:revision>
  <dcterms:created xsi:type="dcterms:W3CDTF">2026-06-25T06:04:43Z</dcterms:created>
  <dcterms:modified xsi:type="dcterms:W3CDTF">2026-06-26T07:37:18Z</dcterms:modified>
</cp:coreProperties>
</file>